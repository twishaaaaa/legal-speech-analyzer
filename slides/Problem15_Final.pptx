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2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3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1F27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B1F27"/>
                </a:solidFill>
                <a:latin typeface="+mn-lt"/>
              </a:rPr>
              <a:t>Spearman correlation with gold ratings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Genesis IC</c:v>
                </c:pt>
              </c:strCache>
            </c:strRef>
          </c:tx>
          <c:spPr>
            <a:solidFill>
              <a:srgbClr val="1F3A5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Path</c:v>
                  </c:pt>
                  <c:pt idx="1">
                    <c:v>Wu-Palmer</c:v>
                  </c:pt>
                  <c:pt idx="2">
                    <c:v>LCH</c:v>
                  </c:pt>
                  <c:pt idx="3">
                    <c:v>Resnik</c:v>
                  </c:pt>
                  <c:pt idx="4">
                    <c:v>Lin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0.562</c:v>
                </c:pt>
                <c:pt idx="1">
                  <c:v>0.54</c:v>
                </c:pt>
                <c:pt idx="2">
                  <c:v>0.562</c:v>
                </c:pt>
                <c:pt idx="3">
                  <c:v>0.56</c:v>
                </c:pt>
                <c:pt idx="4">
                  <c:v>0.614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Brown IC</c:v>
                </c:pt>
              </c:strCache>
            </c:strRef>
          </c:tx>
          <c:spPr>
            <a:solidFill>
              <a:srgbClr val="B8893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Path</c:v>
                  </c:pt>
                  <c:pt idx="1">
                    <c:v>Wu-Palmer</c:v>
                  </c:pt>
                  <c:pt idx="2">
                    <c:v>LCH</c:v>
                  </c:pt>
                  <c:pt idx="3">
                    <c:v>Resnik</c:v>
                  </c:pt>
                  <c:pt idx="4">
                    <c:v>Lin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0.562</c:v>
                </c:pt>
                <c:pt idx="1">
                  <c:v>0.54</c:v>
                </c:pt>
                <c:pt idx="2">
                  <c:v>0.562</c:v>
                </c:pt>
                <c:pt idx="3">
                  <c:v>0.575</c:v>
                </c:pt>
                <c:pt idx="4">
                  <c:v>0.618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F5B6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0"/>
        </c:scaling>
        <c:delete val="0"/>
        <c:axPos val="l"/>
        <c:majorGridlines>
          <c:spPr>
            <a:ln w="6350" cap="flat">
              <a:solidFill>
                <a:srgbClr val="D9D4C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F5B6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1F27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B1F27"/>
                </a:solidFill>
                <a:latin typeface="+mn-lt"/>
              </a:rPr>
              <a:t>Mean normalised score (0 to 1)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Related pairs</c:v>
                </c:pt>
              </c:strCache>
            </c:strRef>
          </c:tx>
          <c:spPr>
            <a:solidFill>
              <a:srgbClr val="5B8C6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Path</c:v>
                  </c:pt>
                  <c:pt idx="1">
                    <c:v>Wu-Palmer</c:v>
                  </c:pt>
                  <c:pt idx="2">
                    <c:v>LCH</c:v>
                  </c:pt>
                  <c:pt idx="3">
                    <c:v>Resnik</c:v>
                  </c:pt>
                  <c:pt idx="4">
                    <c:v>Lin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0.349</c:v>
                </c:pt>
                <c:pt idx="1">
                  <c:v>0.592</c:v>
                </c:pt>
                <c:pt idx="2">
                  <c:v>0.53</c:v>
                </c:pt>
                <c:pt idx="3">
                  <c:v>0.401</c:v>
                </c:pt>
                <c:pt idx="4">
                  <c:v>0.471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Unrelated controls</c:v>
                </c:pt>
              </c:strCache>
            </c:strRef>
          </c:tx>
          <c:spPr>
            <a:solidFill>
              <a:srgbClr val="A44A3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Path</c:v>
                  </c:pt>
                  <c:pt idx="1">
                    <c:v>Wu-Palmer</c:v>
                  </c:pt>
                  <c:pt idx="2">
                    <c:v>LCH</c:v>
                  </c:pt>
                  <c:pt idx="3">
                    <c:v>Resnik</c:v>
                  </c:pt>
                  <c:pt idx="4">
                    <c:v>Lin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0.072</c:v>
                </c:pt>
                <c:pt idx="1">
                  <c:v>0.219</c:v>
                </c:pt>
                <c:pt idx="2">
                  <c:v>0.191</c:v>
                </c:pt>
                <c:pt idx="3">
                  <c:v>0.05</c:v>
                </c:pt>
                <c:pt idx="4">
                  <c:v>0.079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F5B6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7"/>
          <c:min val="0"/>
        </c:scaling>
        <c:delete val="0"/>
        <c:axPos val="l"/>
        <c:majorGridlines>
          <c:spPr>
            <a:ln w="6350" cap="flat">
              <a:solidFill>
                <a:srgbClr val="D9D4C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F5B6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1F27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1B1F27"/>
                </a:solidFill>
                <a:latin typeface="+mn-lt"/>
              </a:rPr>
              <a:t>Terms with a confident match (of 30)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Confident matches</c:v>
                </c:pt>
              </c:strCache>
            </c:strRef>
          </c:tx>
          <c:spPr>
            <a:solidFill>
              <a:srgbClr val="1F3A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Path</c:v>
                  </c:pt>
                  <c:pt idx="1">
                    <c:v>Wu-Palmer</c:v>
                  </c:pt>
                  <c:pt idx="2">
                    <c:v>LCH</c:v>
                  </c:pt>
                  <c:pt idx="3">
                    <c:v>Resnik</c:v>
                  </c:pt>
                  <c:pt idx="4">
                    <c:v>Lin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</c:v>
                </c:pt>
                <c:pt idx="1">
                  <c:v>19</c:v>
                </c:pt>
                <c:pt idx="2">
                  <c:v>12</c:v>
                </c:pt>
                <c:pt idx="3">
                  <c:v>15</c:v>
                </c:pt>
                <c:pt idx="4">
                  <c:v>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F5B6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"/>
          <c:min val="0"/>
        </c:scaling>
        <c:delete val="0"/>
        <c:axPos val="l"/>
        <c:majorGridlines>
          <c:spPr>
            <a:ln w="6350" cap="flat">
              <a:solidFill>
                <a:srgbClr val="D9D4C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F5B6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in name, enrollment number, email, mobile and insert the photograph before submitting.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Motivation: legal retrieval and transcript-to-statute linking.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Hypernym paths come from the prototype output. Depth of larceny.n.01 is 10; crime.n.01 is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Verify the links and citations against the originals before final submission.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Bootstrap intervals are in the Evaluation Report, section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Spearman correlations from outputs/metric_correlations_spearman.csv.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PROBLEM 15  |  MT-AIML  |  NLP PREPROCESSING &amp; LANGUAGE MODELING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WordNet Similarity Measures for Legal Speech Analysis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19456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Taxonomic vs information-theoretic closeness between courtroom transcript terms and statute definitions</a:t>
            </a:r>
            <a:endParaRPr lang="en-US" sz="14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063240"/>
          <a:ext cx="51206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8404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Name</a:t>
                      </a:r>
                      <a:endParaRPr lang="en-US" sz="1100" dirty="0"/>
                    </a:p>
                  </a:txBody>
                  <a:tcPr marL="0" marR="508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[Your full name]</a:t>
                      </a:r>
                      <a:endParaRPr lang="en-US" sz="1100" dirty="0"/>
                    </a:p>
                  </a:txBody>
                  <a:tcPr marL="0" marR="508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Enrollment no.</a:t>
                      </a:r>
                      <a:endParaRPr lang="en-US" sz="1100" dirty="0"/>
                    </a:p>
                  </a:txBody>
                  <a:tcPr marL="0" marR="508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[Enrollment number]</a:t>
                      </a:r>
                      <a:endParaRPr lang="en-US" sz="1100" dirty="0"/>
                    </a:p>
                  </a:txBody>
                  <a:tcPr marL="0" marR="508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Programme</a:t>
                      </a:r>
                      <a:endParaRPr lang="en-US" sz="1100" dirty="0"/>
                    </a:p>
                  </a:txBody>
                  <a:tcPr marL="0" marR="508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B.Tech IT (AI &amp; ML Honors), SCET, Sarvajanik University</a:t>
                      </a:r>
                      <a:endParaRPr lang="en-US" sz="1100" dirty="0"/>
                    </a:p>
                  </a:txBody>
                  <a:tcPr marL="0" marR="508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Academic year</a:t>
                      </a:r>
                      <a:endParaRPr lang="en-US" sz="1100" dirty="0"/>
                    </a:p>
                  </a:txBody>
                  <a:tcPr marL="0" marR="508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2026-27, Semester 6</a:t>
                      </a:r>
                      <a:endParaRPr lang="en-US" sz="1100" dirty="0"/>
                    </a:p>
                  </a:txBody>
                  <a:tcPr marL="0" marR="508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Email / Mobile</a:t>
                      </a:r>
                      <a:endParaRPr lang="en-US" sz="1100" dirty="0"/>
                    </a:p>
                  </a:txBody>
                  <a:tcPr marL="0" marR="508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[email]  /  [mobile]</a:t>
                      </a:r>
                      <a:endParaRPr lang="en-US" sz="1100" dirty="0"/>
                    </a:p>
                  </a:txBody>
                  <a:tcPr marL="0" marR="508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chemeClr val="accent1"/>
                          </a:solidFill>
                        </a:rPr>
                        <a:t>Submission</a:t>
                      </a:r>
                      <a:endParaRPr lang="en-US" sz="1100" dirty="0"/>
                    </a:p>
                  </a:txBody>
                  <a:tcPr marL="0" marR="508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Final submission: 7 Oct 2026</a:t>
                      </a:r>
                      <a:endParaRPr lang="en-US" sz="1100" dirty="0"/>
                    </a:p>
                  </a:txBody>
                  <a:tcPr marL="0" marR="50800" marT="25400" marB="2540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6" name="Photo frame"/>
          <p:cNvSpPr/>
          <p:nvPr/>
        </p:nvSpPr>
        <p:spPr>
          <a:xfrm>
            <a:off x="6309360" y="868680"/>
            <a:ext cx="2194560" cy="2743200"/>
          </a:xfrm>
          <a:prstGeom prst="roundRect">
            <a:avLst>
              <a:gd name="adj" fmla="val 6250"/>
            </a:avLst>
          </a:prstGeom>
          <a:solidFill>
            <a:schemeClr val="accent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309360" y="868680"/>
            <a:ext cx="21945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Student photograph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(insert here)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problem: linking speech to statute terms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Courtroom speech reaches software as ASR transcripts; statutes use fixed, formal terms.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Speakers vary their words: agreement for contract, theft for larceny, penalty for fine.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Exact keyword match misses these links; a number for conceptual closeness is needed.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Task: build a tool that scores term-to-term closeness using the WordNet hierarchy and compare two families of measures.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577840" y="1188720"/>
            <a:ext cx="3108960" cy="3108960"/>
          </a:xfrm>
          <a:prstGeom prst="roundRect">
            <a:avLst>
              <a:gd name="adj" fmla="val 2941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60720" y="12801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Closeness should look like this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760720" y="17373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contract  -  agreement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760720" y="21031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high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760720" y="2606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crime  -  larceny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760720" y="2971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high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760720" y="3474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judge  -  dog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760720" y="3840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near zero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Understanding: WordNet is a tree of is-a links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Words are grouped into synsets. Each synset points to a more general parent (hypernym) up to one root, entity.n.01. Closeness depends on where two synsets meet.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737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6"/>
                </a:solidFill>
              </a:rPr>
              <a:t>Close: crime and larceny share a specific parent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2103120"/>
            <a:ext cx="3108960" cy="402336"/>
          </a:xfrm>
          <a:prstGeom prst="roundRect">
            <a:avLst>
              <a:gd name="adj" fmla="val 18182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10312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crime.n.01  (shared parent)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670048"/>
            <a:ext cx="3108960" cy="402336"/>
          </a:xfrm>
          <a:prstGeom prst="roundRect">
            <a:avLst>
              <a:gd name="adj" fmla="val 18182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2670048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felony.n.01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3236976"/>
            <a:ext cx="3108960" cy="402336"/>
          </a:xfrm>
          <a:prstGeom prst="roundRect">
            <a:avLst>
              <a:gd name="adj" fmla="val 18182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236976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larceny.n.01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1737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Distant: court and judge meet only at the root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0" y="2103120"/>
            <a:ext cx="3108960" cy="402336"/>
          </a:xfrm>
          <a:prstGeom prst="roundRect">
            <a:avLst>
              <a:gd name="adj" fmla="val 18182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29200" y="2103120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entity.n.01  (shared parent)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0" y="2670048"/>
            <a:ext cx="3108960" cy="402336"/>
          </a:xfrm>
          <a:prstGeom prst="roundRect">
            <a:avLst>
              <a:gd name="adj" fmla="val 18182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29200" y="2670048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court.n.01  (institution)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0" y="3236976"/>
            <a:ext cx="3108960" cy="402336"/>
          </a:xfrm>
          <a:prstGeom prst="roundRect">
            <a:avLst>
              <a:gd name="adj" fmla="val 18182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29200" y="3236976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judge.n.01  (person)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Verified with NLTK WordNet on this project's data: lowest common hypernym of crime/larceny = crime.n.01; court/judge = entity.n.01.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Understanding: two families of measures</a:t>
            </a:r>
            <a:endParaRPr lang="en-US" sz="2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645920"/>
                <a:gridCol w="2834640"/>
                <a:gridCol w="192024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Family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Measure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Formula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What it rewards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Taxonomic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Path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 / (len + 1)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Short route between synsets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Wu-Palmer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2·depth(LCS) / (depth a + depth b)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 deep shared ancestor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Leacock-Chodorow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-log((len + 1) / 2D)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Log-scaled path length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</a:rPr>
                        <a:t>Information-theoretic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Resnik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IC(LCS)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 specific shared ancestor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Lin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2·IC(LCS) / (IC a + IC b)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Resnik, normalised to 0-1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794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4"/>
                </a:solidFill>
              </a:rPr>
              <a:t>LCS = lowest common subsumer.  IC(c) = -log P(c), estimated from a corpus (Genesis or Brown).  D = max taxonomy depth.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206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Key question: do tree-distance measures and corpus-specificity measures agree on legal terms?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Scope of the solution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77640" cy="3108960"/>
          </a:xfrm>
          <a:prstGeom prst="roundRect">
            <a:avLst>
              <a:gd name="adj" fmla="val 2941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scope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37360"/>
            <a:ext cx="3611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Five WordNet measures: Path, Wu-Palmer, LCH, Resnik, Lin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Noun pairs; one verified sense per legal term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Pairwise matrices, correlations between metrics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Transcript-to-statute matching with a confidence threshold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Streamlit web app and two PDF reports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09160" y="1188720"/>
            <a:ext cx="3977640" cy="3108960"/>
          </a:xfrm>
          <a:prstGeom prst="roundRect">
            <a:avLst>
              <a:gd name="adj" fmla="val 2941"/>
            </a:avLst>
          </a:prstGeom>
          <a:solidFill>
            <a:schemeClr val="bg1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 of scope (stated limits)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737360"/>
            <a:ext cx="3611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Automatic sense disambiguation (covered by Problems 13, 14, 19)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Multi-word terms and verbs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Training on a legal corpus; IC uses Genesis or Brown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Claims of benchmark accuracy: gold ratings are small and author-assigned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Existing solutions (1/2): the research measures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8229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Wu &amp; Palmer (1994). Verb semantics and lexical selection. ACL.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Leacock &amp; Chodorow (1998). Combining local context and WordNet similarity for word sense identification. In WordNet: An Electronic Lexical Database, MIT Press.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Resnik (1995). Using information content to evaluate semantic similarity in a taxonomy. IJCAI. arXiv:cmp-lg/9511007.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Lin (1998). An information-theoretic definition of similarity. ICML.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Pedersen, Patwardhan &amp; Michelizzi (2004). WordNet::Similarity: measuring the relatedness of concepts. NAACL (Demonstrations).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Budanitsky &amp; Hirst (2006). Evaluating WordNet-based measures of lexical semantic relatedness. Computational Linguistics 32(1).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2"/>
                </a:solidFill>
              </a:rPr>
              <a:t>These define the five measures this project implements and the similarity-versus-relatedness distinction it tests.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Existing solutions (2/2): tools, and the gap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2743200"/>
                <a:gridCol w="26517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Existing tool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What it offers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Limit for legal speech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NLTK WordNet interface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nltk.org/howto/wordnet.html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All five measures; Brown and other IC files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General English; no legal relations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Princeton WordNet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wordnet.princeton.edu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Synsets and hypernym hierarchy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Court and judge meet only at the root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LEGAL-BERT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Chalkidis et al., 2020 (Findings of EMNLP)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Contextual embeddings pre-trained on legal text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Needs compute; scores are not interpretable as tree distance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Gap this project addresses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small, interpretable tool that compares the measures side by side on legal terms, shows where they disagree, and documents the failure cases.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 and data flow</a:t>
            </a:r>
            <a:endParaRPr lang="en-US" sz="2200" dirty="0"/>
          </a:p>
        </p:txBody>
      </p:sp>
      <p:sp>
        <p:nvSpPr>
          <p:cNvPr id="3" name="Stage 1"/>
          <p:cNvSpPr/>
          <p:nvPr/>
        </p:nvSpPr>
        <p:spPr>
          <a:xfrm>
            <a:off x="457200" y="1188720"/>
            <a:ext cx="1463040" cy="1188720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146304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Transcript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raw text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938528" y="1664208"/>
            <a:ext cx="182880" cy="237744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Stage 2"/>
          <p:cNvSpPr/>
          <p:nvPr/>
        </p:nvSpPr>
        <p:spPr>
          <a:xfrm>
            <a:off x="2148840" y="1188720"/>
            <a:ext cx="1463040" cy="1188720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148840" y="1188720"/>
            <a:ext cx="146304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Preprocessing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clean, split, tokenise, lemmatise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30168" y="1664208"/>
            <a:ext cx="182880" cy="237744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Stage 3"/>
          <p:cNvSpPr/>
          <p:nvPr/>
        </p:nvSpPr>
        <p:spPr>
          <a:xfrm>
            <a:off x="3840480" y="1188720"/>
            <a:ext cx="1463040" cy="1188720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40480" y="1188720"/>
            <a:ext cx="146304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Legal lexicon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term to hand-checked synset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321808" y="1664208"/>
            <a:ext cx="182880" cy="237744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Stage 4"/>
          <p:cNvSpPr/>
          <p:nvPr/>
        </p:nvSpPr>
        <p:spPr>
          <a:xfrm>
            <a:off x="5532120" y="1188720"/>
            <a:ext cx="1463040" cy="1188720"/>
          </a:xfrm>
          <a:prstGeom prst="roundRect">
            <a:avLst>
              <a:gd name="adj" fmla="val 7692"/>
            </a:avLst>
          </a:prstGeom>
          <a:solidFill>
            <a:schemeClr val="accent2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532120" y="1188720"/>
            <a:ext cx="146304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Similarity engine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Path, WuP, LCH, Resnik, Lin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013448" y="1664208"/>
            <a:ext cx="182880" cy="237744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Stage 5"/>
          <p:cNvSpPr/>
          <p:nvPr/>
        </p:nvSpPr>
        <p:spPr>
          <a:xfrm>
            <a:off x="7223760" y="1188720"/>
            <a:ext cx="1463040" cy="1188720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15875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223760" y="1188720"/>
            <a:ext cx="1463040" cy="11887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Outputs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tables, charts, app, reports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2514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preprocessing.py</a:t>
            </a:r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  cleaning, loaders, term extraction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models.py</a:t>
            </a:r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  five measures, IC tables, matrices, correlations, statute matching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2971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pipeline.py</a:t>
            </a:r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  evaluation runner;   </a:t>
            </a:r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app.py</a:t>
            </a:r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  Streamlit interface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3832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One verified synset per term, so errors are not caused by sense disambiguation.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Statute matching uses a normalised-score threshold (0.6); below it the tool reports no confident match.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Two IC corpora supported (Genesis with add-1 smoothing, Brown).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and evaluation setup</a:t>
            </a:r>
            <a:endParaRPr lang="en-US" sz="2200" dirty="0"/>
          </a:p>
        </p:txBody>
      </p:sp>
      <p:sp>
        <p:nvSpPr>
          <p:cNvPr id="3" name="Stat card 1"/>
          <p:cNvSpPr/>
          <p:nvPr/>
        </p:nvSpPr>
        <p:spPr>
          <a:xfrm>
            <a:off x="457200" y="1097280"/>
            <a:ext cx="2606040" cy="11430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7830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term pairs scored</a:t>
            </a:r>
            <a:endParaRPr lang="en-US" sz="1200" dirty="0"/>
          </a:p>
        </p:txBody>
      </p:sp>
      <p:sp>
        <p:nvSpPr>
          <p:cNvPr id="6" name="Stat card 2"/>
          <p:cNvSpPr/>
          <p:nvPr/>
        </p:nvSpPr>
        <p:spPr>
          <a:xfrm>
            <a:off x="3246120" y="1097280"/>
            <a:ext cx="2606040" cy="11430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246120" y="118872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3246120" y="17830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related legal pairs</a:t>
            </a:r>
            <a:endParaRPr lang="en-US" sz="1200" dirty="0"/>
          </a:p>
        </p:txBody>
      </p:sp>
      <p:sp>
        <p:nvSpPr>
          <p:cNvPr id="9" name="Stat card 3"/>
          <p:cNvSpPr/>
          <p:nvPr/>
        </p:nvSpPr>
        <p:spPr>
          <a:xfrm>
            <a:off x="6035040" y="1097280"/>
            <a:ext cx="2606040" cy="11430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118872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17830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unrelated control pairs</a:t>
            </a:r>
            <a:endParaRPr lang="en-US" sz="1200" dirty="0"/>
          </a:p>
        </p:txBody>
      </p:sp>
      <p:sp>
        <p:nvSpPr>
          <p:cNvPr id="12" name="Stat card 4"/>
          <p:cNvSpPr/>
          <p:nvPr/>
        </p:nvSpPr>
        <p:spPr>
          <a:xfrm>
            <a:off x="457200" y="2423160"/>
            <a:ext cx="2606040" cy="11430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51460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1089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transcript sentences</a:t>
            </a:r>
            <a:endParaRPr lang="en-US" sz="1200" dirty="0"/>
          </a:p>
        </p:txBody>
      </p:sp>
      <p:sp>
        <p:nvSpPr>
          <p:cNvPr id="15" name="Stat card 5"/>
          <p:cNvSpPr/>
          <p:nvPr/>
        </p:nvSpPr>
        <p:spPr>
          <a:xfrm>
            <a:off x="3246120" y="2423160"/>
            <a:ext cx="2606040" cy="11430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246120" y="251460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3246120" y="31089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legal-term occurrences</a:t>
            </a:r>
            <a:endParaRPr lang="en-US" sz="1200" dirty="0"/>
          </a:p>
        </p:txBody>
      </p:sp>
      <p:sp>
        <p:nvSpPr>
          <p:cNvPr id="18" name="Stat card 6"/>
          <p:cNvSpPr/>
          <p:nvPr/>
        </p:nvSpPr>
        <p:spPr>
          <a:xfrm>
            <a:off x="6035040" y="2423160"/>
            <a:ext cx="2606040" cy="11430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035040" y="2514600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</a:t>
            </a:r>
            <a:endParaRPr lang="en-US" sz="3400" dirty="0"/>
          </a:p>
        </p:txBody>
      </p:sp>
      <p:sp>
        <p:nvSpPr>
          <p:cNvPr id="20" name="Text 18"/>
          <p:cNvSpPr txBox="1"/>
          <p:nvPr/>
        </p:nvSpPr>
        <p:spPr>
          <a:xfrm>
            <a:off x="6035040" y="31089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distinct legal terms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Each pair has a relatedness rating from 0 (unrelated) to 4 (closely related).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Caveat: ratings were assigned by the project author, and the transcript is a short synthetic excerpt. Results show behaviour on this set, not a benchmark.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 application and reports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44805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</a:rPr>
              <a:t>Four tabs in the web app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Compare two terms: pick senses, see all five scores and the hierarchy path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Similarity matrix: choose terms and metric, heat-map table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Transcript to statutes: paste text, set threshold, see best statute match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Evaluation: agreement with gold ratings, metric correlations, all pair scores</a:t>
            </a:r>
            <a:endParaRPr lang="en-US" sz="1400" dirty="0"/>
          </a:p>
          <a:p>
            <a:pPr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accent2"/>
                </a:solidFill>
              </a:rPr>
              <a:t>Reports (docs/)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Architecture &amp; Methodology: formulas, design, limits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Evaluation Report: tables, charts, failure analysis</a:t>
            </a:r>
            <a:endParaRPr lang="en-US" sz="1400" dirty="0"/>
          </a:p>
        </p:txBody>
      </p:sp>
      <p:pic>
        <p:nvPicPr>
          <p:cNvPr id="4" name="Image 0" descr="Wu-Palmer similarity matrix heat map for 17 legal term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74920" y="1051560"/>
            <a:ext cx="3611880" cy="31089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074920" y="420624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Sample output: Wu-Palmer matrix, 17 legal terms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 1: agreement with gold ratings</a:t>
            </a:r>
            <a:endParaRPr lang="en-US" sz="2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05840"/>
          <a:ext cx="52120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760720" y="1188720"/>
            <a:ext cx="3017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All five measures reach Spearman 0.54 to 0.61 (Genesis IC).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Lin is highest, by a small margin.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With 28 pairs, 95% bootstrap intervals overlap heavily (for example Lin 0.30 to 0.80).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Conclusion: all measures capture a moderate monotone link with the gold ratings; none clearly beats the others.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 2: related versus unrelated pairs</a:t>
            </a:r>
            <a:endParaRPr lang="en-US" sz="2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05840"/>
          <a:ext cx="52120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760720" y="1188720"/>
            <a:ext cx="30175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Every measure scores related pairs well above controls (gap 0.28 to 0.39).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Lin has the largest gap (0.39); Path the smallest (0.28).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Path scores are low overall, because shortest paths between specific legal concepts are long.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Wu-Palmer has the highest control score, a warning sign (see failure cases).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two families disagree</a:t>
            </a:r>
            <a:endParaRPr lang="en-US" sz="2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512064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005840"/>
                <a:gridCol w="731520"/>
                <a:gridCol w="868680"/>
                <a:gridCol w="9601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Pair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Wu-Palmer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Resnik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WuP rank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Resnik rank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lawyer - prosecutor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0.952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4.119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judge - prosecutor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0.909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4.102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oath - testimony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0.615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5.373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14.5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damages - fine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0.762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7.984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accent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760720" y="1097280"/>
            <a:ext cx="3017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Path and LCH: correlation 1.00, identical rankings (LCH is a monotone function of path length).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Resnik and Lin: correlation 0.97.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Path versus Resnik 0.83, Path versus Lin 0.85: the weakest links, where the families truly differ.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457200" y="3337560"/>
            <a:ext cx="8229600" cy="1188720"/>
          </a:xfrm>
          <a:prstGeom prst="roundRect">
            <a:avLst>
              <a:gd name="adj" fmla="val 7692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338328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Central contrast.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Taxonomic measures reward proximity in the tree: lawyer, prosecutor and judge are close in the person branch. Information-theoretic measures reward the specificity of what is shared: damages and fine share a specific money concept.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Transcript-to-statute matching</a:t>
            </a:r>
            <a:endParaRPr lang="en-US" sz="2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05840"/>
          <a:ext cx="47548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303520" y="1097280"/>
            <a:ext cx="34747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Each distinct term is matched to the closest of 10 statute terms; threshold 0.6 on a 0-1 scale.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Terms identical to a statute term score the maximum under every measure.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Person terms (plaintiff, defendant, judge, attorney) get no confident match: the statute list has no person terms, and the threshold refuses to force one.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Good matches: damages to Fine, trial and appeal to Verdict.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Failure cases found</a:t>
            </a:r>
            <a:endParaRPr lang="en-US" sz="2200" dirty="0"/>
          </a:p>
        </p:txBody>
      </p:sp>
      <p:sp>
        <p:nvSpPr>
          <p:cNvPr id="3" name="Failure card 1"/>
          <p:cNvSpPr/>
          <p:nvPr/>
        </p:nvSpPr>
        <p:spPr>
          <a:xfrm>
            <a:off x="457200" y="1051560"/>
            <a:ext cx="4023360" cy="1691640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Similarity is not relatedness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508760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judge and dog score 0.67 on Wu-Palmer: both are organisms and meet at organism.n.01 (depth 5). Court and judge, strongly related, score 0.15: they meet only at the root.</a:t>
            </a:r>
            <a:endParaRPr lang="en-US" sz="1150" dirty="0"/>
          </a:p>
        </p:txBody>
      </p:sp>
      <p:sp>
        <p:nvSpPr>
          <p:cNvPr id="6" name="Failure card 2"/>
          <p:cNvSpPr/>
          <p:nvPr/>
        </p:nvSpPr>
        <p:spPr>
          <a:xfrm>
            <a:off x="4663440" y="1051560"/>
            <a:ext cx="4023360" cy="1691640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143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Path scores compress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508760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contract and agreement, a near-synonym pair, score 0.33 on Path but 0.86 on Wu-Palmer. Absolute Path values are hard to threshold.</a:t>
            </a:r>
            <a:endParaRPr lang="en-US" sz="1150" dirty="0"/>
          </a:p>
        </p:txBody>
      </p:sp>
      <p:sp>
        <p:nvSpPr>
          <p:cNvPr id="9" name="Failure card 3"/>
          <p:cNvSpPr/>
          <p:nvPr/>
        </p:nvSpPr>
        <p:spPr>
          <a:xfrm>
            <a:off x="457200" y="2880360"/>
            <a:ext cx="4023360" cy="1691640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Negative information content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337560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Genesis with add-1 smoothing gives the root a slightly negative IC (about -0.083), so Resnik and Lin can dip just below zero. Brown gives exactly 0.</a:t>
            </a:r>
            <a:endParaRPr lang="en-US" sz="1150" dirty="0"/>
          </a:p>
        </p:txBody>
      </p:sp>
      <p:sp>
        <p:nvSpPr>
          <p:cNvPr id="12" name="Failure card 4"/>
          <p:cNvSpPr/>
          <p:nvPr/>
        </p:nvSpPr>
        <p:spPr>
          <a:xfrm>
            <a:off x="4663440" y="2880360"/>
            <a:ext cx="4023360" cy="1691640"/>
          </a:xfrm>
          <a:prstGeom prst="roundRect">
            <a:avLst>
              <a:gd name="adj" fmla="val 5405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5"/>
                </a:solidFill>
              </a:rPr>
              <a:t>Hierarchy coverage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3337560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statute resolves to legislative_act.n.01, far from law.n.01, so law and statute score low although a lawyer treats them as close.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and future work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77640" cy="3383280"/>
          </a:xfrm>
          <a:prstGeom prst="roundRect">
            <a:avLst>
              <a:gd name="adj" fmla="val 2703"/>
            </a:avLst>
          </a:prstGeom>
          <a:solidFill>
            <a:schemeClr val="bg1"/>
          </a:solidFill>
          <a:ln w="15875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4592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28 pairs and author-assigned ratings: correlations are imprecise.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Synthetic transcript; 10 statute terms.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WordNet is general English; legal relations are not hypernym links.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Genesis (biblical text) is a poor IC proxy for legal usage.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Nouns and single words only.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09160" y="1097280"/>
            <a:ext cx="3977640" cy="3383280"/>
          </a:xfrm>
          <a:prstGeom prst="roundRect">
            <a:avLst>
              <a:gd name="adj" fmla="val 2703"/>
            </a:avLst>
          </a:prstGeom>
          <a:solidFill>
            <a:schemeClr val="bg1"/>
          </a:solidFill>
          <a:ln w="15875">
            <a:solidFill>
              <a:schemeClr val="accent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1887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work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64592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Ratings from several independent annotators.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IC estimated from a legal corpus.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Multi-word terms and sense disambiguation.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Combine taxonomic and IC scores in one ranking.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Test on real court transcripts.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10972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1252728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2527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14300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All five measures separate related legal pairs from unrelated ones and correlate moderately with gold ratings. None clearly dominates on 28 pairs.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395728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3957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28600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Path and Leacock-Chodorow are rank-equivalent; Resnik and Lin behave alike. The real comparison is path family versus information-content family.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538728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35387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42900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Taxonomic measures judge closeness in the hierarchy; IC measures judge the specificity of what is shared. For legal text, use both, with a legal IC corpus and expert ratings.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egal Navy">
  <a:themeElements>
    <a:clrScheme name="Legal Navy">
      <a:dk1>
        <a:srgbClr val="1B1F27"/>
      </a:dk1>
      <a:lt1>
        <a:srgbClr val="FFFFFF"/>
      </a:lt1>
      <a:dk2>
        <a:srgbClr val="14263F"/>
      </a:dk2>
      <a:lt2>
        <a:srgbClr val="F6F3EC"/>
      </a:lt2>
      <a:accent1>
        <a:srgbClr val="B8893B"/>
      </a:accent1>
      <a:accent2>
        <a:srgbClr val="1F3A5F"/>
      </a:accent2>
      <a:accent3>
        <a:srgbClr val="4F7CAC"/>
      </a:accent3>
      <a:accent4>
        <a:srgbClr val="7A8CA3"/>
      </a:accent4>
      <a:accent5>
        <a:srgbClr val="A44A3F"/>
      </a:accent5>
      <a:accent6>
        <a:srgbClr val="5B8C6B"/>
      </a:accent6>
      <a:hlink>
        <a:srgbClr val="1F3A5F"/>
      </a:hlink>
      <a:folHlink>
        <a:srgbClr val="7A8CA3"/>
      </a:folHlink>
    </a:clrScheme>
    <a:fontScheme name="Legal Navy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Problem 15 - WordNet Similarity for Legal Speech Analysis</dc:title>
  <dc:subject>PptxGenJS Presentation</dc:subject>
  <dc:creator>Twisha</dc:creator>
  <cp:lastModifiedBy>Twisha</cp:lastModifiedBy>
  <cp:revision>1</cp:revision>
  <dcterms:created xsi:type="dcterms:W3CDTF">2026-10-07T15:19:49Z</dcterms:created>
  <dcterms:modified xsi:type="dcterms:W3CDTF">2026-10-07T15:19:49Z</dcterms:modified>
</cp:coreProperties>
</file>